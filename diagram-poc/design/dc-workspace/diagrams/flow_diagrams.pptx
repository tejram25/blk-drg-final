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it in four moves. Top band: the FAE designs in the workspace and the block diagram editor runs inside it as a micro-frontend — not a separate app. Middle: one database, two owners; neither side writes the other’s data. Analytics: the change feed is written in the same step as the change, so it cannot miss anything, and Databricks holds meaning, never the files. Bottom band: the customer-facing surface, and the two levels of embedding — Salesforce hosts the workspace view, the workspace view hosts the canvas.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decision on the left is worth pausing on: “no” is a valid answer. A design can be started cold, without an opportunity, and linked later. That was confirmed in the stakeholder 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separate steps by design. Exporting produces a draft; only an approver makes it customer-visible, and the refusal is enforced by the system rather than by convention. The copper pair at the bottom is the Databricks feed — it carries meaning, never the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the earlier deck was missing. Level 1: Salesforce hosts the workspace view. Level 2: the workspace view hosts the block diagram canvas, opened by clicking a preview image. The important point is on the right — an unapproved design is not merely hidden from the rep, it is never returned to the page in the first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280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645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Workspace · Block Diagram · Salesforce · one database · Databricks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978640" cy="3566160"/>
          </a:xfrm>
          <a:prstGeom prst="roundRect">
            <a:avLst>
              <a:gd name="adj" fmla="val 1538"/>
            </a:avLst>
          </a:prstGeom>
          <a:solidFill>
            <a:srgbClr val="F6F7F8"/>
          </a:solidFill>
          <a:ln w="9525">
            <a:solidFill>
              <a:srgbClr val="B8BDC4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03504" y="1307592"/>
            <a:ext cx="1170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9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— DESIGN AND BUILD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2755880" y="1234440"/>
            <a:ext cx="5074920" cy="3566160"/>
          </a:xfrm>
          <a:prstGeom prst="roundRect">
            <a:avLst>
              <a:gd name="adj" fmla="val 1538"/>
            </a:avLst>
          </a:prstGeom>
          <a:solidFill>
            <a:srgbClr val="F6F7F8"/>
          </a:solidFill>
          <a:ln w="9525">
            <a:solidFill>
              <a:srgbClr val="B8BDC4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2902184" y="1307592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9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SERVICES — USED BY BOTH APPS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5029200"/>
            <a:ext cx="6400800" cy="1874520"/>
          </a:xfrm>
          <a:prstGeom prst="roundRect">
            <a:avLst>
              <a:gd name="adj" fmla="val 2927"/>
            </a:avLst>
          </a:prstGeom>
          <a:solidFill>
            <a:srgbClr val="F6F7F8"/>
          </a:solidFill>
          <a:ln w="9525">
            <a:solidFill>
              <a:srgbClr val="B8BDC4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03504" y="5102352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9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DATA — ONE DATABASE, ONE OWNER PER AREA, NEVER WRITTEN ACROSS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132320" y="5029200"/>
            <a:ext cx="10698480" cy="1874520"/>
          </a:xfrm>
          <a:prstGeom prst="roundRect">
            <a:avLst>
              <a:gd name="adj" fmla="val 2927"/>
            </a:avLst>
          </a:prstGeom>
          <a:solidFill>
            <a:srgbClr val="F6F7F8"/>
          </a:solidFill>
          <a:ln w="9525">
            <a:solidFill>
              <a:srgbClr val="B8BDC4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7278624" y="5102352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9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AND AI CONTEXT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7360920"/>
            <a:ext cx="13990320" cy="2606040"/>
          </a:xfrm>
          <a:prstGeom prst="roundRect">
            <a:avLst>
              <a:gd name="adj" fmla="val 2105"/>
            </a:avLst>
          </a:prstGeom>
          <a:solidFill>
            <a:srgbClr val="F6F7F8"/>
          </a:solidFill>
          <a:ln w="9525">
            <a:solidFill>
              <a:srgbClr val="B8BDC4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603504" y="7434072"/>
            <a:ext cx="1371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9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CUSTOMER-FACING SURFACE — TWO LEVELS OF EMBEDDING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4721840" y="7360920"/>
            <a:ext cx="3108960" cy="2606040"/>
          </a:xfrm>
          <a:prstGeom prst="roundRect">
            <a:avLst>
              <a:gd name="adj" fmla="val 2105"/>
            </a:avLst>
          </a:prstGeom>
          <a:solidFill>
            <a:srgbClr val="F6F7F8"/>
          </a:solidFill>
          <a:ln w="9525">
            <a:solidFill>
              <a:srgbClr val="B8BDC4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14868144" y="743407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9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71800" y="2263140"/>
            <a:ext cx="7772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3110789" y="2125980"/>
            <a:ext cx="499262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971800" y="3954780"/>
            <a:ext cx="7772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3084271" y="3817620"/>
            <a:ext cx="552298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943600" y="2263140"/>
            <a:ext cx="777240" cy="0"/>
          </a:xfrm>
          <a:prstGeom prst="line">
            <a:avLst/>
          </a:prstGeom>
          <a:noFill/>
          <a:ln w="22225">
            <a:solidFill>
              <a:srgbClr val="0084D5"/>
            </a:solidFill>
            <a:prstDash val="dash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5896966" y="2125980"/>
            <a:ext cx="870509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micro-frontend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915400" y="2263140"/>
            <a:ext cx="7772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9075420" y="2125980"/>
            <a:ext cx="4572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846320" y="2697480"/>
            <a:ext cx="0" cy="82296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818120" y="2697480"/>
            <a:ext cx="0" cy="82296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789920" y="2697480"/>
            <a:ext cx="0" cy="42976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none"/>
          </a:ln>
        </p:spPr>
      </p:sp>
      <p:sp>
        <p:nvSpPr>
          <p:cNvPr id="27" name="Shape 25"/>
          <p:cNvSpPr/>
          <p:nvPr/>
        </p:nvSpPr>
        <p:spPr>
          <a:xfrm flipH="1">
            <a:off x="4846320" y="3127248"/>
            <a:ext cx="594360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4846320" y="3127248"/>
            <a:ext cx="0" cy="3931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7250278" y="2990088"/>
            <a:ext cx="1135685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the file over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846320" y="4389120"/>
            <a:ext cx="0" cy="47548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none"/>
          </a:ln>
        </p:spPr>
      </p:sp>
      <p:sp>
        <p:nvSpPr>
          <p:cNvPr id="31" name="Shape 29"/>
          <p:cNvSpPr/>
          <p:nvPr/>
        </p:nvSpPr>
        <p:spPr>
          <a:xfrm flipH="1">
            <a:off x="1920240" y="4864608"/>
            <a:ext cx="292608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1920240" y="4864608"/>
            <a:ext cx="0" cy="64008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3154680" y="4727448"/>
            <a:ext cx="4572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818120" y="4389120"/>
            <a:ext cx="0" cy="47548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none"/>
          </a:ln>
        </p:spPr>
      </p:sp>
      <p:sp>
        <p:nvSpPr>
          <p:cNvPr id="35" name="Shape 33"/>
          <p:cNvSpPr/>
          <p:nvPr/>
        </p:nvSpPr>
        <p:spPr>
          <a:xfrm flipH="1">
            <a:off x="5372100" y="4864608"/>
            <a:ext cx="244602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5372100" y="4864608"/>
            <a:ext cx="0" cy="64008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6366510" y="4727448"/>
            <a:ext cx="4572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 flipH="1">
            <a:off x="3086100" y="6053328"/>
            <a:ext cx="11201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dash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3343504" y="5916168"/>
            <a:ext cx="605333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920240" y="6601968"/>
            <a:ext cx="0" cy="347472"/>
          </a:xfrm>
          <a:prstGeom prst="line">
            <a:avLst/>
          </a:prstGeom>
          <a:noFill/>
          <a:ln w="22225">
            <a:solidFill>
              <a:srgbClr val="FFC845"/>
            </a:solidFill>
            <a:prstDash val="solid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1920240" y="6949440"/>
            <a:ext cx="6537960" cy="0"/>
          </a:xfrm>
          <a:prstGeom prst="line">
            <a:avLst/>
          </a:prstGeom>
          <a:noFill/>
          <a:ln w="22225">
            <a:solidFill>
              <a:srgbClr val="FFC845"/>
            </a:solidFill>
            <a:prstDash val="solid"/>
            <a:tailEnd type="none"/>
          </a:ln>
        </p:spPr>
      </p:sp>
      <p:sp>
        <p:nvSpPr>
          <p:cNvPr id="42" name="Shape 40"/>
          <p:cNvSpPr/>
          <p:nvPr/>
        </p:nvSpPr>
        <p:spPr>
          <a:xfrm flipV="1">
            <a:off x="8458200" y="6601968"/>
            <a:ext cx="0" cy="347472"/>
          </a:xfrm>
          <a:prstGeom prst="line">
            <a:avLst/>
          </a:prstGeom>
          <a:noFill/>
          <a:ln w="22225">
            <a:solidFill>
              <a:srgbClr val="FFC845"/>
            </a:solidFill>
            <a:prstDash val="solid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4515307" y="6812280"/>
            <a:ext cx="1347826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step as the change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9464040" y="6053328"/>
            <a:ext cx="640080" cy="0"/>
          </a:xfrm>
          <a:prstGeom prst="line">
            <a:avLst/>
          </a:prstGeom>
          <a:noFill/>
          <a:ln w="22225">
            <a:solidFill>
              <a:srgbClr val="FFC845"/>
            </a:solidFill>
            <a:prstDash val="solid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9555480" y="5916168"/>
            <a:ext cx="4572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 flipV="1">
            <a:off x="12298680" y="6048756"/>
            <a:ext cx="731520" cy="457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12414809" y="5913882"/>
            <a:ext cx="499262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 flipV="1">
            <a:off x="16459200" y="5358384"/>
            <a:ext cx="0" cy="256032"/>
          </a:xfrm>
          <a:prstGeom prst="line">
            <a:avLst/>
          </a:prstGeom>
          <a:noFill/>
          <a:ln w="15875">
            <a:solidFill>
              <a:srgbClr val="6B7280"/>
            </a:solidFill>
            <a:prstDash val="dash"/>
            <a:tailEnd type="none"/>
          </a:ln>
        </p:spPr>
      </p:sp>
      <p:sp>
        <p:nvSpPr>
          <p:cNvPr id="49" name="Shape 47"/>
          <p:cNvSpPr/>
          <p:nvPr/>
        </p:nvSpPr>
        <p:spPr>
          <a:xfrm flipH="1">
            <a:off x="11201400" y="5358384"/>
            <a:ext cx="525780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dash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11201400" y="5358384"/>
            <a:ext cx="0" cy="146304"/>
          </a:xfrm>
          <a:prstGeom prst="line">
            <a:avLst/>
          </a:prstGeom>
          <a:noFill/>
          <a:ln w="15875">
            <a:solidFill>
              <a:srgbClr val="6B7280"/>
            </a:solidFill>
            <a:prstDash val="dash"/>
            <a:tailEnd type="triangle"/>
          </a:ln>
        </p:spPr>
      </p:sp>
      <p:sp>
        <p:nvSpPr>
          <p:cNvPr id="51" name="Shape 49"/>
          <p:cNvSpPr/>
          <p:nvPr/>
        </p:nvSpPr>
        <p:spPr>
          <a:xfrm flipH="1">
            <a:off x="10561320" y="8298180"/>
            <a:ext cx="914400" cy="0"/>
          </a:xfrm>
          <a:prstGeom prst="line">
            <a:avLst/>
          </a:prstGeom>
          <a:noFill/>
          <a:ln w="22225">
            <a:solidFill>
              <a:srgbClr val="FF8674"/>
            </a:solidFill>
            <a:prstDash val="solid"/>
            <a:tailEnd type="triangle"/>
          </a:ln>
        </p:spPr>
      </p:sp>
      <p:sp>
        <p:nvSpPr>
          <p:cNvPr id="52" name="Text 50"/>
          <p:cNvSpPr/>
          <p:nvPr/>
        </p:nvSpPr>
        <p:spPr>
          <a:xfrm>
            <a:off x="10742371" y="8161020"/>
            <a:ext cx="552298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it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 flipH="1">
            <a:off x="6903720" y="8298180"/>
            <a:ext cx="914400" cy="0"/>
          </a:xfrm>
          <a:prstGeom prst="line">
            <a:avLst/>
          </a:prstGeom>
          <a:noFill/>
          <a:ln w="22225">
            <a:solidFill>
              <a:srgbClr val="FF8674"/>
            </a:solidFill>
            <a:prstDash val="dash"/>
            <a:tailEnd type="triangle"/>
          </a:ln>
        </p:spPr>
      </p:sp>
      <p:sp>
        <p:nvSpPr>
          <p:cNvPr id="54" name="Text 52"/>
          <p:cNvSpPr/>
          <p:nvPr/>
        </p:nvSpPr>
        <p:spPr>
          <a:xfrm>
            <a:off x="7031736" y="8161020"/>
            <a:ext cx="658368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· 1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532120" y="8732520"/>
            <a:ext cx="0" cy="274320"/>
          </a:xfrm>
          <a:prstGeom prst="line">
            <a:avLst/>
          </a:prstGeom>
          <a:noFill/>
          <a:ln w="22225">
            <a:solidFill>
              <a:srgbClr val="FF8674"/>
            </a:solidFill>
            <a:prstDash val="dash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5202936" y="8732520"/>
            <a:ext cx="658368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· 2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 flipH="1">
            <a:off x="3246120" y="8298180"/>
            <a:ext cx="914400" cy="0"/>
          </a:xfrm>
          <a:prstGeom prst="line">
            <a:avLst/>
          </a:prstGeom>
          <a:noFill/>
          <a:ln w="22225">
            <a:solidFill>
              <a:srgbClr val="FF8674"/>
            </a:solidFill>
            <a:prstDash val="solid"/>
            <a:tailEnd type="triangle"/>
          </a:ln>
        </p:spPr>
      </p:sp>
      <p:sp>
        <p:nvSpPr>
          <p:cNvPr id="58" name="Text 56"/>
          <p:cNvSpPr/>
          <p:nvPr/>
        </p:nvSpPr>
        <p:spPr>
          <a:xfrm>
            <a:off x="3347618" y="8161020"/>
            <a:ext cx="711403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it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 flipH="1">
            <a:off x="1920240" y="9418320"/>
            <a:ext cx="2240280" cy="0"/>
          </a:xfrm>
          <a:prstGeom prst="line">
            <a:avLst/>
          </a:prstGeom>
          <a:noFill/>
          <a:ln w="22225">
            <a:solidFill>
              <a:srgbClr val="FF8674"/>
            </a:solidFill>
            <a:prstDash val="solid"/>
            <a:tailEnd type="none"/>
          </a:ln>
        </p:spPr>
      </p:sp>
      <p:sp>
        <p:nvSpPr>
          <p:cNvPr id="60" name="Shape 58"/>
          <p:cNvSpPr/>
          <p:nvPr/>
        </p:nvSpPr>
        <p:spPr>
          <a:xfrm flipV="1">
            <a:off x="1920240" y="8732520"/>
            <a:ext cx="0" cy="685800"/>
          </a:xfrm>
          <a:prstGeom prst="line">
            <a:avLst/>
          </a:prstGeom>
          <a:noFill/>
          <a:ln w="22225">
            <a:solidFill>
              <a:srgbClr val="FF8674"/>
            </a:solidFill>
            <a:prstDash val="solid"/>
            <a:tailEnd type="triangle"/>
          </a:ln>
        </p:spPr>
      </p:sp>
      <p:sp>
        <p:nvSpPr>
          <p:cNvPr id="61" name="Text 59"/>
          <p:cNvSpPr/>
          <p:nvPr/>
        </p:nvSpPr>
        <p:spPr>
          <a:xfrm>
            <a:off x="1511503" y="8938260"/>
            <a:ext cx="817474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only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 flipH="1" flipV="1">
            <a:off x="1920240" y="6601968"/>
            <a:ext cx="0" cy="1261872"/>
          </a:xfrm>
          <a:prstGeom prst="line">
            <a:avLst/>
          </a:prstGeom>
          <a:noFill/>
          <a:ln w="22225">
            <a:solidFill>
              <a:srgbClr val="FF8674"/>
            </a:solidFill>
            <a:prstDash val="solid"/>
            <a:tailEnd type="triangle"/>
          </a:ln>
        </p:spPr>
      </p:sp>
      <p:sp>
        <p:nvSpPr>
          <p:cNvPr id="63" name="Text 61"/>
          <p:cNvSpPr/>
          <p:nvPr/>
        </p:nvSpPr>
        <p:spPr>
          <a:xfrm>
            <a:off x="1511503" y="7095744"/>
            <a:ext cx="817474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only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777240" y="1828800"/>
            <a:ext cx="2194560" cy="868680"/>
          </a:xfrm>
          <a:prstGeom prst="flowChartTerminator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86968" y="1828800"/>
            <a:ext cx="1975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FAE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the solution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3749040" y="1828800"/>
            <a:ext cx="2194560" cy="868680"/>
          </a:xfrm>
          <a:prstGeom prst="flowChartDisplay">
            <a:avLst/>
          </a:prstGeom>
          <a:solidFill>
            <a:srgbClr val="FFFFFF"/>
          </a:solidFill>
          <a:ln w="22225">
            <a:solidFill>
              <a:srgbClr val="0084D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858768" y="1828800"/>
            <a:ext cx="1975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Workspace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· designs · documents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6720840" y="1828800"/>
            <a:ext cx="2194560" cy="868680"/>
          </a:xfrm>
          <a:prstGeom prst="flowChartDisplay">
            <a:avLst/>
          </a:prstGeom>
          <a:solidFill>
            <a:srgbClr val="FFFFFF"/>
          </a:solidFill>
          <a:ln w="22225">
            <a:solidFill>
              <a:srgbClr val="47D7A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830568" y="1828800"/>
            <a:ext cx="1975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diagram editor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· parts · wiring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9692640" y="1828800"/>
            <a:ext cx="21945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2225">
            <a:solidFill>
              <a:srgbClr val="47D7A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802368" y="1828800"/>
            <a:ext cx="1975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service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the PDF and preview image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777240" y="3520440"/>
            <a:ext cx="2194560" cy="868680"/>
          </a:xfrm>
          <a:prstGeom prst="flowChartTerminator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86968" y="3520440"/>
            <a:ext cx="1975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FAE manager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what customers see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3749040" y="3520440"/>
            <a:ext cx="21945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2225">
            <a:solidFill>
              <a:srgbClr val="0084D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858768" y="3520440"/>
            <a:ext cx="1975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services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· documents · approval</a:t>
            </a:r>
            <a:endParaRPr lang="en-US" sz="1150" dirty="0"/>
          </a:p>
        </p:txBody>
      </p:sp>
      <p:sp>
        <p:nvSpPr>
          <p:cNvPr id="76" name="Shape 74"/>
          <p:cNvSpPr/>
          <p:nvPr/>
        </p:nvSpPr>
        <p:spPr>
          <a:xfrm>
            <a:off x="6720840" y="3520440"/>
            <a:ext cx="21945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2225">
            <a:solidFill>
              <a:srgbClr val="47D7A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830568" y="3520440"/>
            <a:ext cx="1975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services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· history · export</a:t>
            </a:r>
            <a:endParaRPr lang="en-US" sz="1150" dirty="0"/>
          </a:p>
        </p:txBody>
      </p:sp>
      <p:sp>
        <p:nvSpPr>
          <p:cNvPr id="78" name="Shape 76"/>
          <p:cNvSpPr/>
          <p:nvPr/>
        </p:nvSpPr>
        <p:spPr>
          <a:xfrm>
            <a:off x="13075920" y="1783080"/>
            <a:ext cx="44348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3185648" y="1783080"/>
            <a:ext cx="4215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sign-on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Arrow login for both apps</a:t>
            </a:r>
            <a:endParaRPr lang="en-US" sz="1150" dirty="0"/>
          </a:p>
        </p:txBody>
      </p:sp>
      <p:sp>
        <p:nvSpPr>
          <p:cNvPr id="80" name="Shape 78"/>
          <p:cNvSpPr/>
          <p:nvPr/>
        </p:nvSpPr>
        <p:spPr>
          <a:xfrm>
            <a:off x="13075920" y="2743200"/>
            <a:ext cx="44348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3185648" y="2743200"/>
            <a:ext cx="4215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catalogue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— eu · ap · ac</a:t>
            </a:r>
            <a:endParaRPr lang="en-US" sz="1150" dirty="0"/>
          </a:p>
        </p:txBody>
      </p:sp>
      <p:sp>
        <p:nvSpPr>
          <p:cNvPr id="82" name="Shape 80"/>
          <p:cNvSpPr/>
          <p:nvPr/>
        </p:nvSpPr>
        <p:spPr>
          <a:xfrm>
            <a:off x="13075920" y="3703320"/>
            <a:ext cx="44348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3185648" y="3703320"/>
            <a:ext cx="4215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collaboration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in the Salesforce view</a:t>
            </a:r>
            <a:endParaRPr lang="en-US" sz="1150" dirty="0"/>
          </a:p>
        </p:txBody>
      </p:sp>
      <p:sp>
        <p:nvSpPr>
          <p:cNvPr id="84" name="Shape 82"/>
          <p:cNvSpPr/>
          <p:nvPr/>
        </p:nvSpPr>
        <p:spPr>
          <a:xfrm>
            <a:off x="754380" y="5504688"/>
            <a:ext cx="2331720" cy="1097280"/>
          </a:xfrm>
          <a:prstGeom prst="flowChartMagneticDrum">
            <a:avLst/>
          </a:prstGeom>
          <a:solidFill>
            <a:srgbClr val="FFFFFF"/>
          </a:solidFill>
          <a:ln w="22225">
            <a:solidFill>
              <a:srgbClr val="FFC845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64108" y="5596128"/>
            <a:ext cx="211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data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· documents · who may see them</a:t>
            </a:r>
            <a:endParaRPr lang="en-US" sz="1150" dirty="0"/>
          </a:p>
        </p:txBody>
      </p:sp>
      <p:sp>
        <p:nvSpPr>
          <p:cNvPr id="86" name="Shape 84"/>
          <p:cNvSpPr/>
          <p:nvPr/>
        </p:nvSpPr>
        <p:spPr>
          <a:xfrm>
            <a:off x="4206240" y="5504688"/>
            <a:ext cx="2331720" cy="1097280"/>
          </a:xfrm>
          <a:prstGeom prst="flowChartMagneticDrum">
            <a:avLst/>
          </a:prstGeom>
          <a:solidFill>
            <a:srgbClr val="FFFFFF"/>
          </a:solidFill>
          <a:ln w="22225">
            <a:solidFill>
              <a:srgbClr val="FFC84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315968" y="5596128"/>
            <a:ext cx="211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data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their history</a:t>
            </a:r>
            <a:endParaRPr lang="en-US" sz="1150" dirty="0"/>
          </a:p>
        </p:txBody>
      </p:sp>
      <p:sp>
        <p:nvSpPr>
          <p:cNvPr id="88" name="Shape 86"/>
          <p:cNvSpPr/>
          <p:nvPr/>
        </p:nvSpPr>
        <p:spPr>
          <a:xfrm>
            <a:off x="7452360" y="5504688"/>
            <a:ext cx="2011680" cy="1097280"/>
          </a:xfrm>
          <a:prstGeom prst="flowChartMagneticDrum">
            <a:avLst/>
          </a:prstGeom>
          <a:solidFill>
            <a:srgbClr val="FFC845"/>
          </a:solidFill>
          <a:ln w="22225">
            <a:solidFill>
              <a:srgbClr val="FFC84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562088" y="5596128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feed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 what changed — never the files</a:t>
            </a:r>
            <a:endParaRPr lang="en-US" sz="1150" dirty="0"/>
          </a:p>
        </p:txBody>
      </p:sp>
      <p:sp>
        <p:nvSpPr>
          <p:cNvPr id="90" name="Shape 88"/>
          <p:cNvSpPr/>
          <p:nvPr/>
        </p:nvSpPr>
        <p:spPr>
          <a:xfrm>
            <a:off x="10104120" y="5504688"/>
            <a:ext cx="2194560" cy="1097280"/>
          </a:xfrm>
          <a:prstGeom prst="flowChartMagneticDrum">
            <a:avLst/>
          </a:prstGeom>
          <a:solidFill>
            <a:srgbClr val="FFC845"/>
          </a:solidFill>
          <a:ln w="22225">
            <a:solidFill>
              <a:srgbClr val="FFC845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0213848" y="5596128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lakehouse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business context layer</a:t>
            </a:r>
            <a:endParaRPr lang="en-US" sz="1150" dirty="0"/>
          </a:p>
        </p:txBody>
      </p:sp>
      <p:sp>
        <p:nvSpPr>
          <p:cNvPr id="92" name="Shape 90"/>
          <p:cNvSpPr/>
          <p:nvPr/>
        </p:nvSpPr>
        <p:spPr>
          <a:xfrm>
            <a:off x="13030200" y="5614416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3139928" y="5614416"/>
            <a:ext cx="1700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reference designs and parts</a:t>
            </a:r>
            <a:endParaRPr lang="en-US" sz="1150" dirty="0"/>
          </a:p>
        </p:txBody>
      </p:sp>
      <p:sp>
        <p:nvSpPr>
          <p:cNvPr id="94" name="Shape 92"/>
          <p:cNvSpPr/>
          <p:nvPr/>
        </p:nvSpPr>
        <p:spPr>
          <a:xfrm>
            <a:off x="15316200" y="5614416"/>
            <a:ext cx="2286000" cy="868680"/>
          </a:xfrm>
          <a:prstGeom prst="flowChartInputOutput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5425928" y="5614416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platform feeds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· FAST · SiliconExpert · Eng KB — not ours</a:t>
            </a:r>
            <a:endParaRPr lang="en-US" sz="1150" dirty="0"/>
          </a:p>
        </p:txBody>
      </p:sp>
      <p:sp>
        <p:nvSpPr>
          <p:cNvPr id="96" name="Shape 94"/>
          <p:cNvSpPr/>
          <p:nvPr/>
        </p:nvSpPr>
        <p:spPr>
          <a:xfrm>
            <a:off x="594360" y="786384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2225">
            <a:solidFill>
              <a:srgbClr val="0084D5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04088" y="7863840"/>
            <a:ext cx="2432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Published-content service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on the server, not in the UI</a:t>
            </a:r>
            <a:endParaRPr lang="en-US" sz="1150" dirty="0"/>
          </a:p>
        </p:txBody>
      </p:sp>
      <p:sp>
        <p:nvSpPr>
          <p:cNvPr id="98" name="Shape 96"/>
          <p:cNvSpPr/>
          <p:nvPr/>
        </p:nvSpPr>
        <p:spPr>
          <a:xfrm>
            <a:off x="4160520" y="7863840"/>
            <a:ext cx="2743200" cy="868680"/>
          </a:xfrm>
          <a:prstGeom prst="flowChartDisplay">
            <a:avLst/>
          </a:prstGeom>
          <a:solidFill>
            <a:srgbClr val="FFFFFF"/>
          </a:solidFill>
          <a:ln w="22225">
            <a:solidFill>
              <a:srgbClr val="0084D5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270248" y="7863840"/>
            <a:ext cx="2523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view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preview image per approved design</a:t>
            </a:r>
            <a:endParaRPr lang="en-US" sz="1150" dirty="0"/>
          </a:p>
        </p:txBody>
      </p:sp>
      <p:sp>
        <p:nvSpPr>
          <p:cNvPr id="100" name="Shape 98"/>
          <p:cNvSpPr/>
          <p:nvPr/>
        </p:nvSpPr>
        <p:spPr>
          <a:xfrm>
            <a:off x="7818120" y="7863840"/>
            <a:ext cx="2743200" cy="868680"/>
          </a:xfrm>
          <a:prstGeom prst="cloud">
            <a:avLst/>
          </a:prstGeom>
          <a:solidFill>
            <a:srgbClr val="FFFFFF"/>
          </a:solidFill>
          <a:ln w="22225">
            <a:solidFill>
              <a:srgbClr val="FF8674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927848" y="7863840"/>
            <a:ext cx="2523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page · Design tab</a:t>
            </a:r>
            <a:endParaRPr lang="en-US" sz="1150" dirty="0"/>
          </a:p>
        </p:txBody>
      </p:sp>
      <p:sp>
        <p:nvSpPr>
          <p:cNvPr id="102" name="Shape 100"/>
          <p:cNvSpPr/>
          <p:nvPr/>
        </p:nvSpPr>
        <p:spPr>
          <a:xfrm>
            <a:off x="11475720" y="7863840"/>
            <a:ext cx="2651760" cy="868680"/>
          </a:xfrm>
          <a:prstGeom prst="flowChartTerminator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1585448" y="7863840"/>
            <a:ext cx="2432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with the customer</a:t>
            </a:r>
            <a:endParaRPr lang="en-US" sz="1150" dirty="0"/>
          </a:p>
        </p:txBody>
      </p:sp>
      <p:sp>
        <p:nvSpPr>
          <p:cNvPr id="104" name="Shape 102"/>
          <p:cNvSpPr/>
          <p:nvPr/>
        </p:nvSpPr>
        <p:spPr>
          <a:xfrm>
            <a:off x="4160520" y="9006840"/>
            <a:ext cx="2743200" cy="822960"/>
          </a:xfrm>
          <a:prstGeom prst="flowChartDisplay">
            <a:avLst/>
          </a:prstGeom>
          <a:solidFill>
            <a:srgbClr val="FFFFFF"/>
          </a:solidFill>
          <a:ln w="22225">
            <a:solidFill>
              <a:srgbClr val="47D7AC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270248" y="9006840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diagram canvas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on clicking a preview · read-only</a:t>
            </a:r>
            <a:endParaRPr lang="en-US" sz="1150" dirty="0"/>
          </a:p>
        </p:txBody>
      </p:sp>
      <p:sp>
        <p:nvSpPr>
          <p:cNvPr id="106" name="Shape 104"/>
          <p:cNvSpPr/>
          <p:nvPr/>
        </p:nvSpPr>
        <p:spPr>
          <a:xfrm>
            <a:off x="14996160" y="7818120"/>
            <a:ext cx="1051560" cy="274320"/>
          </a:xfrm>
          <a:prstGeom prst="flowChartTerminator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6184880" y="7818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14996160" y="8174736"/>
            <a:ext cx="1051560" cy="274320"/>
          </a:xfrm>
          <a:prstGeom prst="flowChartDisplay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6184880" y="81747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14996160" y="8531352"/>
            <a:ext cx="105156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6184880" y="85313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50" dirty="0"/>
          </a:p>
        </p:txBody>
      </p:sp>
      <p:sp>
        <p:nvSpPr>
          <p:cNvPr id="112" name="Shape 110"/>
          <p:cNvSpPr/>
          <p:nvPr/>
        </p:nvSpPr>
        <p:spPr>
          <a:xfrm>
            <a:off x="14996160" y="8887968"/>
            <a:ext cx="1051560" cy="274320"/>
          </a:xfrm>
          <a:prstGeom prst="flowChartMagneticDrum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6184880" y="88879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data</a:t>
            </a:r>
            <a:endParaRPr lang="en-US" sz="950" dirty="0"/>
          </a:p>
        </p:txBody>
      </p:sp>
      <p:sp>
        <p:nvSpPr>
          <p:cNvPr id="114" name="Shape 112"/>
          <p:cNvSpPr/>
          <p:nvPr/>
        </p:nvSpPr>
        <p:spPr>
          <a:xfrm>
            <a:off x="14996160" y="9244584"/>
            <a:ext cx="1051560" cy="274320"/>
          </a:xfrm>
          <a:prstGeom prst="cloud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6184880" y="92445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system</a:t>
            </a:r>
            <a:endParaRPr lang="en-US" sz="950" dirty="0"/>
          </a:p>
        </p:txBody>
      </p:sp>
      <p:sp>
        <p:nvSpPr>
          <p:cNvPr id="116" name="Shape 114"/>
          <p:cNvSpPr/>
          <p:nvPr/>
        </p:nvSpPr>
        <p:spPr>
          <a:xfrm>
            <a:off x="14996160" y="9601200"/>
            <a:ext cx="1051560" cy="274320"/>
          </a:xfrm>
          <a:prstGeom prst="flowChartInputOutpu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6184880" y="9601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ours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280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flow — create, link, build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645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3 · A DESIGN CAN START WITH OR WITHOUT AN OPPORTUNITY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3291840" cy="402336"/>
          </a:xfrm>
          <a:prstGeom prst="roundRect">
            <a:avLst>
              <a:gd name="adj" fmla="val 11364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3444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FAE / APPROVER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886200" y="1234440"/>
            <a:ext cx="3291840" cy="402336"/>
          </a:xfrm>
          <a:prstGeom prst="roundRect">
            <a:avLst>
              <a:gd name="adj" fmla="val 11364"/>
            </a:avLst>
          </a:prstGeom>
          <a:solidFill>
            <a:srgbClr val="47D7AC"/>
          </a:solidFill>
          <a:ln w="12700">
            <a:solidFill>
              <a:srgbClr val="47D7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86200" y="123444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8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DIAGRAM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498080" y="1234440"/>
            <a:ext cx="3291840" cy="402336"/>
          </a:xfrm>
          <a:prstGeom prst="roundRect">
            <a:avLst>
              <a:gd name="adj" fmla="val 11364"/>
            </a:avLst>
          </a:prstGeom>
          <a:solidFill>
            <a:srgbClr val="0084D5"/>
          </a:solidFill>
          <a:ln w="12700">
            <a:solidFill>
              <a:srgbClr val="0084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0" y="123444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WORKSPACE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1109960" y="1234440"/>
            <a:ext cx="3291840" cy="402336"/>
          </a:xfrm>
          <a:prstGeom prst="roundRect">
            <a:avLst>
              <a:gd name="adj" fmla="val 11364"/>
            </a:avLst>
          </a:prstGeom>
          <a:solidFill>
            <a:srgbClr val="FFC845"/>
          </a:solidFill>
          <a:ln w="12700">
            <a:solidFill>
              <a:srgbClr val="FFC8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09960" y="123444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8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DATA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4721840" y="1234440"/>
            <a:ext cx="3291840" cy="402336"/>
          </a:xfrm>
          <a:prstGeom prst="roundRect">
            <a:avLst>
              <a:gd name="adj" fmla="val 11364"/>
            </a:avLst>
          </a:prstGeom>
          <a:solidFill>
            <a:srgbClr val="FF8674"/>
          </a:solidFill>
          <a:ln w="12700">
            <a:solidFill>
              <a:srgbClr val="FF86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721840" y="123444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8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60420" y="2286000"/>
            <a:ext cx="434340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0584180" y="2286000"/>
            <a:ext cx="93726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0824210" y="2148840"/>
            <a:ext cx="4572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920240" y="2720340"/>
            <a:ext cx="0" cy="50292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291840" y="3703320"/>
            <a:ext cx="441198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5269230" y="3566160"/>
            <a:ext cx="4572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0584180" y="3703320"/>
            <a:ext cx="441198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2561570" y="3566160"/>
            <a:ext cx="4572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144000" y="4137660"/>
            <a:ext cx="0" cy="30632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9144000" y="4443984"/>
            <a:ext cx="361188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12755880" y="4443984"/>
            <a:ext cx="0" cy="242316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10620756" y="4306824"/>
            <a:ext cx="658368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it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920240" y="4183380"/>
            <a:ext cx="0" cy="192024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1378915" y="5006340"/>
            <a:ext cx="108265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ad-hoc design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2755880" y="5554980"/>
            <a:ext cx="0" cy="20574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none"/>
          </a:ln>
        </p:spPr>
      </p:sp>
      <p:sp>
        <p:nvSpPr>
          <p:cNvPr id="29" name="Shape 27"/>
          <p:cNvSpPr/>
          <p:nvPr/>
        </p:nvSpPr>
        <p:spPr>
          <a:xfrm flipH="1">
            <a:off x="1920240" y="5760720"/>
            <a:ext cx="108356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1920240" y="5760720"/>
            <a:ext cx="0" cy="34290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7061911" y="5623560"/>
            <a:ext cx="552298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360420" y="6537960"/>
            <a:ext cx="73152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972300" y="6537960"/>
            <a:ext cx="45491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9018270" y="6400800"/>
            <a:ext cx="4572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532120" y="6972300"/>
            <a:ext cx="0" cy="54864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532120" y="8389620"/>
            <a:ext cx="0" cy="54864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972300" y="9372600"/>
            <a:ext cx="578358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none"/>
          </a:ln>
        </p:spPr>
      </p:sp>
      <p:sp>
        <p:nvSpPr>
          <p:cNvPr id="38" name="Shape 36"/>
          <p:cNvSpPr/>
          <p:nvPr/>
        </p:nvSpPr>
        <p:spPr>
          <a:xfrm flipV="1">
            <a:off x="12755880" y="7086600"/>
            <a:ext cx="0" cy="228600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12527280" y="8092440"/>
            <a:ext cx="4572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80060" y="1851660"/>
            <a:ext cx="2880360" cy="868680"/>
          </a:xfrm>
          <a:prstGeom prst="flowChartTerminator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9788" y="1851660"/>
            <a:ext cx="2660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FAE opens Design Workspace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703820" y="1851660"/>
            <a:ext cx="28803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2225">
            <a:solidFill>
              <a:srgbClr val="0084D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13548" y="1851660"/>
            <a:ext cx="2660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design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customer, region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11521440" y="1737360"/>
            <a:ext cx="2468880" cy="1097280"/>
          </a:xfrm>
          <a:prstGeom prst="flowChartMagneticDrum">
            <a:avLst/>
          </a:prstGeom>
          <a:solidFill>
            <a:srgbClr val="FFFFFF"/>
          </a:solidFill>
          <a:ln w="22225">
            <a:solidFill>
              <a:srgbClr val="FFC84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631168" y="182880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is saved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draft, with no opportunity yet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48640" y="3223260"/>
            <a:ext cx="2743200" cy="960120"/>
          </a:xfrm>
          <a:prstGeom prst="flowChartDecision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8368" y="3223260"/>
            <a:ext cx="2523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a Salesforce opportunity?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designs are allowed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7703820" y="3268980"/>
            <a:ext cx="28803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2225">
            <a:solidFill>
              <a:srgbClr val="0084D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813548" y="3268980"/>
            <a:ext cx="2660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opportunity exists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time we call Salesforce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14996160" y="3268980"/>
            <a:ext cx="2743200" cy="868680"/>
          </a:xfrm>
          <a:prstGeom prst="cloud">
            <a:avLst/>
          </a:prstGeom>
          <a:solidFill>
            <a:srgbClr val="FFFFFF"/>
          </a:solidFill>
          <a:ln w="22225">
            <a:solidFill>
              <a:srgbClr val="FF867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5105888" y="3268980"/>
            <a:ext cx="2523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record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check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11315700" y="4686300"/>
            <a:ext cx="28803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2225">
            <a:solidFill>
              <a:srgbClr val="FFC84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425428" y="4686300"/>
            <a:ext cx="2660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recorded, change feed notified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in one step, so the feed cannot miss it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480060" y="6103620"/>
            <a:ext cx="28803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9788" y="6103620"/>
            <a:ext cx="2660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block diagram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4091940" y="6103620"/>
            <a:ext cx="28803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2225">
            <a:solidFill>
              <a:srgbClr val="47D7A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201668" y="6103620"/>
            <a:ext cx="2660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opens inside the workspace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micro-frontend, not a separate app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11521440" y="5989320"/>
            <a:ext cx="2468880" cy="1097280"/>
          </a:xfrm>
          <a:prstGeom prst="flowChartMagneticDrum">
            <a:avLst/>
          </a:prstGeom>
          <a:solidFill>
            <a:srgbClr val="FFFFFF"/>
          </a:solidFill>
          <a:ln w="22225">
            <a:solidFill>
              <a:srgbClr val="FFC84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1631168" y="608076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is loaded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4091940" y="7520940"/>
            <a:ext cx="28803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2225">
            <a:solidFill>
              <a:srgbClr val="47D7A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201668" y="7520940"/>
            <a:ext cx="2660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blocks, search parts, wire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search follows the design’s region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4091940" y="8938260"/>
            <a:ext cx="28803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2225">
            <a:solidFill>
              <a:srgbClr val="47D7A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201668" y="8938260"/>
            <a:ext cx="2660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is saved automatically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280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flow — export and approve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645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3 · NOTHING LEAVES ARROW UNTIL AN APPROVER SAYS SO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3291840" cy="402336"/>
          </a:xfrm>
          <a:prstGeom prst="roundRect">
            <a:avLst>
              <a:gd name="adj" fmla="val 11364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3444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FAE / APPROVER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886200" y="1234440"/>
            <a:ext cx="3291840" cy="402336"/>
          </a:xfrm>
          <a:prstGeom prst="roundRect">
            <a:avLst>
              <a:gd name="adj" fmla="val 11364"/>
            </a:avLst>
          </a:prstGeom>
          <a:solidFill>
            <a:srgbClr val="47D7AC"/>
          </a:solidFill>
          <a:ln w="12700">
            <a:solidFill>
              <a:srgbClr val="47D7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86200" y="123444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8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DIAGRAM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498080" y="1234440"/>
            <a:ext cx="3291840" cy="402336"/>
          </a:xfrm>
          <a:prstGeom prst="roundRect">
            <a:avLst>
              <a:gd name="adj" fmla="val 11364"/>
            </a:avLst>
          </a:prstGeom>
          <a:solidFill>
            <a:srgbClr val="0084D5"/>
          </a:solidFill>
          <a:ln w="12700">
            <a:solidFill>
              <a:srgbClr val="0084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0" y="123444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WORKSPACE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1109960" y="1234440"/>
            <a:ext cx="3291840" cy="402336"/>
          </a:xfrm>
          <a:prstGeom prst="roundRect">
            <a:avLst>
              <a:gd name="adj" fmla="val 11364"/>
            </a:avLst>
          </a:prstGeom>
          <a:solidFill>
            <a:srgbClr val="FFC845"/>
          </a:solidFill>
          <a:ln w="12700">
            <a:solidFill>
              <a:srgbClr val="FFC8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09960" y="123444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8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DATA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4721840" y="1234440"/>
            <a:ext cx="3291840" cy="402336"/>
          </a:xfrm>
          <a:prstGeom prst="roundRect">
            <a:avLst>
              <a:gd name="adj" fmla="val 11364"/>
            </a:avLst>
          </a:prstGeom>
          <a:solidFill>
            <a:srgbClr val="FF8674"/>
          </a:solidFill>
          <a:ln w="12700">
            <a:solidFill>
              <a:srgbClr val="FF86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721840" y="123444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8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4721840" y="1874520"/>
            <a:ext cx="3291840" cy="2377440"/>
          </a:xfrm>
          <a:prstGeom prst="roundRect">
            <a:avLst>
              <a:gd name="adj" fmla="val 2308"/>
            </a:avLst>
          </a:prstGeom>
          <a:solidFill>
            <a:srgbClr val="F6F7F8"/>
          </a:solidFill>
          <a:ln w="9525">
            <a:solidFill>
              <a:srgbClr val="B8BDC4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14923008" y="2057400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two steps?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923008" y="2441448"/>
            <a:ext cx="28895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Exporting produces a draft. Only an approver makes it customer-visible — and the refusal is enforced by the system, not by convention.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is not involved anywhere on this slide.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60420" y="2286000"/>
            <a:ext cx="73152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972300" y="2286000"/>
            <a:ext cx="73152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7008876" y="2148840"/>
            <a:ext cx="658368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over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0584180" y="2286000"/>
            <a:ext cx="93726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0824210" y="2148840"/>
            <a:ext cx="4572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144000" y="2720340"/>
            <a:ext cx="0" cy="29718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none"/>
          </a:ln>
        </p:spPr>
      </p:sp>
      <p:sp>
        <p:nvSpPr>
          <p:cNvPr id="23" name="Shape 21"/>
          <p:cNvSpPr/>
          <p:nvPr/>
        </p:nvSpPr>
        <p:spPr>
          <a:xfrm flipH="1">
            <a:off x="1920240" y="3017520"/>
            <a:ext cx="722376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1920240" y="3017520"/>
            <a:ext cx="0" cy="20574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291840" y="3703320"/>
            <a:ext cx="441198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5269230" y="3566160"/>
            <a:ext cx="4572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920240" y="4183380"/>
            <a:ext cx="0" cy="93726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1920240" y="5120640"/>
            <a:ext cx="578358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4583430" y="4983480"/>
            <a:ext cx="4572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0584180" y="3703320"/>
            <a:ext cx="36576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10949940" y="3703320"/>
            <a:ext cx="0" cy="141732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10949940" y="5120640"/>
            <a:ext cx="36576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10721340" y="4274820"/>
            <a:ext cx="4572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2755880" y="5554980"/>
            <a:ext cx="0" cy="43434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2755880" y="7086600"/>
            <a:ext cx="0" cy="434340"/>
          </a:xfrm>
          <a:prstGeom prst="line">
            <a:avLst/>
          </a:prstGeom>
          <a:noFill/>
          <a:ln w="22225">
            <a:solidFill>
              <a:srgbClr val="FFC845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2755880" y="8389620"/>
            <a:ext cx="0" cy="434340"/>
          </a:xfrm>
          <a:prstGeom prst="line">
            <a:avLst/>
          </a:prstGeom>
          <a:noFill/>
          <a:ln w="22225">
            <a:solidFill>
              <a:srgbClr val="FFC845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480060" y="1851660"/>
            <a:ext cx="28803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9788" y="1851660"/>
            <a:ext cx="2660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PDF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block diagram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091940" y="1851660"/>
            <a:ext cx="28803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2225">
            <a:solidFill>
              <a:srgbClr val="47D7A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01668" y="1851660"/>
            <a:ext cx="2660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and preview image produced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7703820" y="1851660"/>
            <a:ext cx="28803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2225">
            <a:solidFill>
              <a:srgbClr val="0084D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13548" y="1851660"/>
            <a:ext cx="2660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Filed against the design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editor hands it over, it never files it itself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11521440" y="1737360"/>
            <a:ext cx="2468880" cy="1097280"/>
          </a:xfrm>
          <a:prstGeom prst="flowChartMagneticDrum">
            <a:avLst/>
          </a:prstGeom>
          <a:solidFill>
            <a:srgbClr val="FFFFFF"/>
          </a:solidFill>
          <a:ln w="22225">
            <a:solidFill>
              <a:srgbClr val="FFC84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631168" y="182880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as a draft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only until someone approves it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48640" y="3223260"/>
            <a:ext cx="2743200" cy="960120"/>
          </a:xfrm>
          <a:prstGeom prst="flowChartDecision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368" y="3223260"/>
            <a:ext cx="2523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Approver publishes it?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an approver on this design can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7703820" y="3268980"/>
            <a:ext cx="28803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2225">
            <a:solidFill>
              <a:srgbClr val="0084D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813548" y="3268980"/>
            <a:ext cx="2660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approver’s role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refused if the caller is not an approver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7703820" y="4686300"/>
            <a:ext cx="2880360" cy="868680"/>
          </a:xfrm>
          <a:prstGeom prst="flowChartDocument">
            <a:avLst/>
          </a:prstGeom>
          <a:solidFill>
            <a:srgbClr val="FFFFFF"/>
          </a:solidFill>
          <a:ln w="22225">
            <a:solidFill>
              <a:srgbClr val="0084D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813548" y="4686300"/>
            <a:ext cx="2660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a draft — internal only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reaches Salesforce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11315700" y="4686300"/>
            <a:ext cx="28803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2225">
            <a:solidFill>
              <a:srgbClr val="FFC84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1425428" y="4686300"/>
            <a:ext cx="2660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approved and customer-visible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refused for anything that may never leave Arrow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11521440" y="5989320"/>
            <a:ext cx="2468880" cy="1097280"/>
          </a:xfrm>
          <a:prstGeom prst="flowChartMagneticDrum">
            <a:avLst/>
          </a:prstGeom>
          <a:solidFill>
            <a:srgbClr val="FFFFFF"/>
          </a:solidFill>
          <a:ln w="22225">
            <a:solidFill>
              <a:srgbClr val="FFC84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631168" y="608076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approved it, and when, is recorded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11315700" y="7520940"/>
            <a:ext cx="2880360" cy="868680"/>
          </a:xfrm>
          <a:prstGeom prst="roundRect">
            <a:avLst>
              <a:gd name="adj" fmla="val 6316"/>
            </a:avLst>
          </a:prstGeom>
          <a:solidFill>
            <a:srgbClr val="FFC845"/>
          </a:solidFill>
          <a:ln w="22225">
            <a:solidFill>
              <a:srgbClr val="FFC84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1425428" y="7520940"/>
            <a:ext cx="2660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ingest job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up the change · owned by the data platform team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11521440" y="8823960"/>
            <a:ext cx="2468880" cy="1097280"/>
          </a:xfrm>
          <a:prstGeom prst="flowChartMagneticDrum">
            <a:avLst/>
          </a:prstGeom>
          <a:solidFill>
            <a:srgbClr val="FFC845"/>
          </a:solidFill>
          <a:ln w="22225">
            <a:solidFill>
              <a:srgbClr val="FFC84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1631168" y="891540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lakehouse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linkage, metadata and meaning — never the files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280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flow — the customer sees 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645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3 · TWO LEVELS OF EMBEDDING, BOTH FILTERED ON THE SERVER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886200" y="1234440"/>
            <a:ext cx="3291840" cy="402336"/>
          </a:xfrm>
          <a:prstGeom prst="roundRect">
            <a:avLst>
              <a:gd name="adj" fmla="val 11364"/>
            </a:avLst>
          </a:prstGeom>
          <a:solidFill>
            <a:srgbClr val="47D7AC"/>
          </a:solidFill>
          <a:ln w="12700">
            <a:solidFill>
              <a:srgbClr val="47D7A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86200" y="123444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8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DIAGRAM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498080" y="1234440"/>
            <a:ext cx="3291840" cy="402336"/>
          </a:xfrm>
          <a:prstGeom prst="roundRect">
            <a:avLst>
              <a:gd name="adj" fmla="val 11364"/>
            </a:avLst>
          </a:prstGeom>
          <a:solidFill>
            <a:srgbClr val="0084D5"/>
          </a:solidFill>
          <a:ln w="12700">
            <a:solidFill>
              <a:srgbClr val="0084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123444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WORKSPACE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1109960" y="1234440"/>
            <a:ext cx="3291840" cy="402336"/>
          </a:xfrm>
          <a:prstGeom prst="roundRect">
            <a:avLst>
              <a:gd name="adj" fmla="val 11364"/>
            </a:avLst>
          </a:prstGeom>
          <a:solidFill>
            <a:srgbClr val="FFC845"/>
          </a:solidFill>
          <a:ln w="12700">
            <a:solidFill>
              <a:srgbClr val="FFC8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09960" y="123444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8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DATA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4721840" y="1234440"/>
            <a:ext cx="3291840" cy="402336"/>
          </a:xfrm>
          <a:prstGeom prst="roundRect">
            <a:avLst>
              <a:gd name="adj" fmla="val 11364"/>
            </a:avLst>
          </a:prstGeom>
          <a:solidFill>
            <a:srgbClr val="FF8674"/>
          </a:solidFill>
          <a:ln w="12700">
            <a:solidFill>
              <a:srgbClr val="FF86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721840" y="123444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8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" y="14904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“embedded” means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874520"/>
            <a:ext cx="3200400" cy="37490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25400">
            <a:solidFill>
              <a:srgbClr val="FF86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1965960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8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page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04088" y="2469794"/>
            <a:ext cx="2432304" cy="2558491"/>
          </a:xfrm>
          <a:prstGeom prst="roundRect">
            <a:avLst>
              <a:gd name="adj" fmla="val 1880"/>
            </a:avLst>
          </a:prstGeom>
          <a:solidFill>
            <a:srgbClr val="FFFFFF"/>
          </a:solidFill>
          <a:ln w="25400">
            <a:solidFill>
              <a:srgbClr val="0084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56123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4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view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88136" y="3065069"/>
            <a:ext cx="1664208" cy="1367942"/>
          </a:xfrm>
          <a:prstGeom prst="roundRect">
            <a:avLst>
              <a:gd name="adj" fmla="val 3342"/>
            </a:avLst>
          </a:prstGeom>
          <a:solidFill>
            <a:srgbClr val="FFFFFF"/>
          </a:solidFill>
          <a:ln w="25400">
            <a:solidFill>
              <a:srgbClr val="47D7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61288" y="3156509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D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diagram canvas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57607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page, three owners. Each level is filtered by its own service — nothing is hidden by the UI alone.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6367760" y="2720340"/>
            <a:ext cx="0" cy="54864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H="1">
            <a:off x="9144000" y="3703320"/>
            <a:ext cx="5783580" cy="0"/>
          </a:xfrm>
          <a:prstGeom prst="line">
            <a:avLst/>
          </a:prstGeom>
          <a:noFill/>
          <a:ln w="22225">
            <a:solidFill>
              <a:srgbClr val="FF8674"/>
            </a:solidFill>
            <a:prstDash val="solid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9144000" y="3703320"/>
            <a:ext cx="0" cy="982980"/>
          </a:xfrm>
          <a:prstGeom prst="line">
            <a:avLst/>
          </a:prstGeom>
          <a:noFill/>
          <a:ln w="22225">
            <a:solidFill>
              <a:srgbClr val="FF8674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8867851" y="4057650"/>
            <a:ext cx="552298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click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0584180" y="5120640"/>
            <a:ext cx="937260" cy="0"/>
          </a:xfrm>
          <a:prstGeom prst="line">
            <a:avLst/>
          </a:prstGeom>
          <a:noFill/>
          <a:ln w="22225">
            <a:solidFill>
              <a:srgbClr val="FF8674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10776661" y="4983480"/>
            <a:ext cx="552298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2755880" y="5669280"/>
            <a:ext cx="0" cy="868680"/>
          </a:xfrm>
          <a:prstGeom prst="line">
            <a:avLst/>
          </a:prstGeom>
          <a:noFill/>
          <a:ln w="22225">
            <a:solidFill>
              <a:srgbClr val="FF8674"/>
            </a:solidFill>
            <a:prstDash val="solid"/>
            <a:tailEnd type="none"/>
          </a:ln>
        </p:spPr>
      </p:sp>
      <p:sp>
        <p:nvSpPr>
          <p:cNvPr id="27" name="Shape 25"/>
          <p:cNvSpPr/>
          <p:nvPr/>
        </p:nvSpPr>
        <p:spPr>
          <a:xfrm flipH="1">
            <a:off x="10584180" y="6537960"/>
            <a:ext cx="2171700" cy="0"/>
          </a:xfrm>
          <a:prstGeom prst="line">
            <a:avLst/>
          </a:prstGeom>
          <a:noFill/>
          <a:ln w="22225">
            <a:solidFill>
              <a:srgbClr val="FF867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H="1">
            <a:off x="7338060" y="6537960"/>
            <a:ext cx="365760" cy="0"/>
          </a:xfrm>
          <a:prstGeom prst="line">
            <a:avLst/>
          </a:prstGeom>
          <a:noFill/>
          <a:ln w="22225">
            <a:solidFill>
              <a:srgbClr val="FF8674"/>
            </a:solidFill>
            <a:prstDash val="solid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7338060" y="6537960"/>
            <a:ext cx="0" cy="1417320"/>
          </a:xfrm>
          <a:prstGeom prst="line">
            <a:avLst/>
          </a:prstGeom>
          <a:noFill/>
          <a:ln w="22225">
            <a:solidFill>
              <a:srgbClr val="FF8674"/>
            </a:solidFill>
            <a:prstDash val="solid"/>
            <a:tailEnd type="none"/>
          </a:ln>
        </p:spPr>
      </p:sp>
      <p:sp>
        <p:nvSpPr>
          <p:cNvPr id="30" name="Shape 28"/>
          <p:cNvSpPr/>
          <p:nvPr/>
        </p:nvSpPr>
        <p:spPr>
          <a:xfrm flipH="1">
            <a:off x="6972300" y="7955280"/>
            <a:ext cx="365760" cy="0"/>
          </a:xfrm>
          <a:prstGeom prst="line">
            <a:avLst/>
          </a:prstGeom>
          <a:noFill/>
          <a:ln w="22225">
            <a:solidFill>
              <a:srgbClr val="FF8674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7061911" y="7109460"/>
            <a:ext cx="552298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click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532120" y="8389620"/>
            <a:ext cx="0" cy="982980"/>
          </a:xfrm>
          <a:prstGeom prst="line">
            <a:avLst/>
          </a:prstGeom>
          <a:noFill/>
          <a:ln w="22225">
            <a:solidFill>
              <a:srgbClr val="FF8674"/>
            </a:solidFill>
            <a:prstDash val="solid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5532120" y="9372600"/>
            <a:ext cx="9395460" cy="0"/>
          </a:xfrm>
          <a:prstGeom prst="line">
            <a:avLst/>
          </a:prstGeom>
          <a:noFill/>
          <a:ln w="22225">
            <a:solidFill>
              <a:srgbClr val="FF8674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9953701" y="9235440"/>
            <a:ext cx="552298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4927580" y="1851660"/>
            <a:ext cx="28803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2225">
            <a:solidFill>
              <a:srgbClr val="FF867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037308" y="1851660"/>
            <a:ext cx="2660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 opens the opportunity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loads yet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14927580" y="3268980"/>
            <a:ext cx="28803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2225">
            <a:solidFill>
              <a:srgbClr val="FF867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037308" y="3268980"/>
            <a:ext cx="2660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View Design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workspace view opens in the page — embedding level 1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703820" y="4686300"/>
            <a:ext cx="28803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2225">
            <a:solidFill>
              <a:srgbClr val="0084D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13548" y="4686300"/>
            <a:ext cx="2660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this design’s content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on the server, not in the UI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11521440" y="4572000"/>
            <a:ext cx="2468880" cy="1097280"/>
          </a:xfrm>
          <a:prstGeom prst="flowChartMagneticDrum">
            <a:avLst/>
          </a:prstGeom>
          <a:solidFill>
            <a:srgbClr val="FFFFFF"/>
          </a:solidFill>
          <a:ln w="22225">
            <a:solidFill>
              <a:srgbClr val="FFC84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631168" y="466344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Approved, customer-visible only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is invisible to this request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703820" y="6103620"/>
            <a:ext cx="28803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2225">
            <a:solidFill>
              <a:srgbClr val="0084D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13548" y="6103620"/>
            <a:ext cx="2660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shown as preview images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image per approved design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091940" y="7520940"/>
            <a:ext cx="28803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2225">
            <a:solidFill>
              <a:srgbClr val="47D7A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01668" y="7520940"/>
            <a:ext cx="2660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opens on clicking a preview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workspace view — embedding level 2 · read-only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14927580" y="8938260"/>
            <a:ext cx="2880360" cy="868680"/>
          </a:xfrm>
          <a:prstGeom prst="flowChartTerminator">
            <a:avLst/>
          </a:prstGeom>
          <a:solidFill>
            <a:srgbClr val="FFFFFF"/>
          </a:solidFill>
          <a:ln w="22225">
            <a:solidFill>
              <a:srgbClr val="FF867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5037308" y="8938260"/>
            <a:ext cx="2660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shares the PDF with the customer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Arrow</dc:creator>
  <cp:lastModifiedBy>Arrow</cp:lastModifiedBy>
  <cp:revision>1</cp:revision>
  <dcterms:created xsi:type="dcterms:W3CDTF">2026-08-06T05:59:22Z</dcterms:created>
  <dcterms:modified xsi:type="dcterms:W3CDTF">2026-08-06T05:59:22Z</dcterms:modified>
</cp:coreProperties>
</file>